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D516-A1B3-8D4B-A7E9-9867765AE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B0DC3-5395-891D-EDCA-4DB437E61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470FF-F9F0-6368-6410-DB37CFCA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CACCC-1AB2-C60D-B7D8-4DD532B3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426BB-EEEC-E3E2-EA5F-762A38822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08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E50A-2EB1-B110-DB18-2A0498CE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989C9-71F7-530D-0E9E-442DFCCB2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8D6C3-67C8-E8F8-A841-D54A0901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FD8B8-84EC-B5A2-5647-ED4F81ADD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56CF-6DC9-4E86-8C48-81C79813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006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5283F-C769-826B-EC9C-D7FBDA5F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05159-5473-E1FC-8A6E-4D85B8A5D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FC28F-7299-0E86-6040-9E1BAD39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A5BC6-A93D-1FA1-5AB6-D6987236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263C-D36A-709C-1D6A-9BDBFF7A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610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4C2B-2952-2A03-9D09-387D7C17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97AB2-17C6-E4AC-0134-0606D6E50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4D6C0-56D0-E939-B5B1-94DD93B1A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52EAC-AD70-018D-24DC-B6F48F7B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68598-1316-41ED-DD01-99E8200C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60551-9BF7-EE99-DCE8-F66BBB41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7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B5E5-D710-B0A1-70A0-4B4497002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ECA21-0B2E-51F6-4EE9-D302F383D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FF42C-EE63-6AC3-1D48-28B99003B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57120-FF43-6C48-7CD0-34798D748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E89EC-7A5E-5150-377B-A253F118B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17762-0849-9DD9-997A-8339C105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3A46A-CDD9-2CC7-592F-BC8281DC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BE7FCE-45AD-BCA9-18C3-86FA88B5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96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C44E-284C-9EFF-88CE-D313995F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738312-2C99-023E-0BDC-443417B2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3F20C-C7B1-9133-72CB-A01F680B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3156B-DF32-473F-B0EE-49EF2FC8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03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CAB15-D6E6-322F-CA69-02FBE1BA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F1F99-1CF6-C080-5803-6D05135A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89644-D50C-A596-77A0-1860A356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9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7B096-D83A-9319-1BDD-6CBD9819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4369C-576D-1012-0E58-F8E89354F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66591-12E5-39B0-A3B6-E8FBB4131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CEEC1-4FB2-DEFB-2BAB-582493384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75EAE-18D1-E8E8-1A0B-A267C73B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EAAE3-3A61-7CBB-ABAE-A3AFA93E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08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01D8-3A46-66C8-3E29-7939E6F2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5EDF74-A648-AFAE-B3A2-C30A10DC1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EFE1D-F750-9AAE-DD13-0089E5CAC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BE890-C7C6-2A8E-14BF-4584EF77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4AAA7-DC64-C8F0-ACAC-EB9CC6AF9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35245-8E21-0B04-AAB6-6074C632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40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99A-4DCE-3E32-CE9F-A011F08B0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A2B40-6C0F-B92A-AD3B-E38478B04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4555B-C6C0-5468-CA08-C5E372CC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AAC8E-E4A6-5102-0EDD-96904BDB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8C2FA-4224-5C04-EAF0-9CA52138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76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AA1D5-C1FB-C421-D284-7844D7C4D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5E387-E46D-21CA-6FC2-6CEBABC7C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B352E-DBEE-CFC9-9D4B-A8157FD5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D83F5-98C6-9A7D-B3B8-3ACCD41E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6EB93-B6BF-7A87-CEF8-82B2589D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93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1B0844-1616-95B4-FC5C-46690345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13BE4-1E77-09C7-900E-49CCF9C3B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85960-9CD1-12A7-A05A-EA8A5E16B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FF58F-7E46-459D-A238-83FE580C1A4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DCA1-FF6F-9EF6-4F73-A2914C87C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98B48-E0D0-AB1B-E476-D0E0D625C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CD8CA-3ADB-440B-990D-46CC539D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02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A99BD7-65F8-7166-791A-1AF8E929E7D2}"/>
              </a:ext>
            </a:extLst>
          </p:cNvPr>
          <p:cNvSpPr txBox="1"/>
          <p:nvPr/>
        </p:nvSpPr>
        <p:spPr>
          <a:xfrm>
            <a:off x="711200" y="939800"/>
            <a:ext cx="965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131B22"/>
                </a:solidFill>
                <a:latin typeface="Aptos Display" panose="020B0004020202020204" pitchFamily="34" charset="0"/>
              </a:rPr>
              <a:t>Intent Resurrection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8F497-2CA6-FDC5-0A94-2C96BFB53B4F}"/>
              </a:ext>
            </a:extLst>
          </p:cNvPr>
          <p:cNvSpPr txBox="1"/>
          <p:nvPr/>
        </p:nvSpPr>
        <p:spPr>
          <a:xfrm>
            <a:off x="736600" y="1828800"/>
            <a:ext cx="9906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4D5965"/>
                </a:solidFill>
                <a:latin typeface="Aptos" panose="020B0004020202020204" pitchFamily="34" charset="0"/>
              </a:rPr>
              <a:t>Reconstructing abandoned user intent from live digital traces</a:t>
            </a:r>
            <a:endParaRPr lang="en-IN" sz="1900">
              <a:solidFill>
                <a:srgbClr val="4D596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B41890-D2F5-5F81-118D-589AE803FA08}"/>
              </a:ext>
            </a:extLst>
          </p:cNvPr>
          <p:cNvSpPr/>
          <p:nvPr/>
        </p:nvSpPr>
        <p:spPr>
          <a:xfrm>
            <a:off x="685800" y="2819400"/>
            <a:ext cx="6680200" cy="1905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35306-2466-3F82-030C-F62769B0D5F4}"/>
              </a:ext>
            </a:extLst>
          </p:cNvPr>
          <p:cNvSpPr txBox="1"/>
          <p:nvPr/>
        </p:nvSpPr>
        <p:spPr>
          <a:xfrm>
            <a:off x="965200" y="3225800"/>
            <a:ext cx="609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54E15"/>
                </a:solidFill>
                <a:latin typeface="Aptos Display" panose="020B0004020202020204" pitchFamily="34" charset="0"/>
              </a:rPr>
              <a:t>Current systems remember actions. This system reconstructs purpose.</a:t>
            </a:r>
            <a:endParaRPr lang="en-IN" sz="2400" b="1">
              <a:solidFill>
                <a:srgbClr val="F54E15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376D7E-8031-9983-6820-C35254563B8F}"/>
              </a:ext>
            </a:extLst>
          </p:cNvPr>
          <p:cNvSpPr/>
          <p:nvPr/>
        </p:nvSpPr>
        <p:spPr>
          <a:xfrm>
            <a:off x="7924800" y="2794000"/>
            <a:ext cx="7340600" cy="1930400"/>
          </a:xfrm>
          <a:prstGeom prst="rect">
            <a:avLst/>
          </a:prstGeom>
          <a:solidFill>
            <a:srgbClr val="F54E15">
              <a:alpha val="98000"/>
            </a:srgbClr>
          </a:solidFill>
          <a:ln>
            <a:solidFill>
              <a:srgbClr val="F54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98CA7-C051-3765-2874-1D21E7578532}"/>
              </a:ext>
            </a:extLst>
          </p:cNvPr>
          <p:cNvSpPr txBox="1"/>
          <p:nvPr/>
        </p:nvSpPr>
        <p:spPr>
          <a:xfrm>
            <a:off x="8305800" y="3200400"/>
            <a:ext cx="65278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Collectors -&gt; n8n -&gt; backend -&gt; analysis -&gt; recovery guidance</a:t>
            </a:r>
            <a:endParaRPr lang="en-IN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AA5D0-3329-0492-883A-86D082FE0BB9}"/>
              </a:ext>
            </a:extLst>
          </p:cNvPr>
          <p:cNvSpPr txBox="1"/>
          <p:nvPr/>
        </p:nvSpPr>
        <p:spPr>
          <a:xfrm>
            <a:off x="8305800" y="3886200"/>
            <a:ext cx="6527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FFEFE8"/>
                </a:solidFill>
                <a:latin typeface="Aptos" panose="020B0004020202020204" pitchFamily="34" charset="0"/>
              </a:rPr>
              <a:t>Now with persisted model artifacts, auth-aware workspaces, analytics export, and automated deck/report generation.</a:t>
            </a:r>
            <a:endParaRPr lang="en-IN" sz="1500">
              <a:solidFill>
                <a:srgbClr val="FFEFE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21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2E01A4-5549-CF90-4497-F78B6C4A0F24}"/>
              </a:ext>
            </a:extLst>
          </p:cNvPr>
          <p:cNvSpPr txBox="1"/>
          <p:nvPr/>
        </p:nvSpPr>
        <p:spPr>
          <a:xfrm>
            <a:off x="685800" y="355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54E15"/>
                </a:solidFill>
                <a:latin typeface="Aptos" panose="020B0004020202020204" pitchFamily="34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723B6-0BFE-FB78-FB89-CD96C1DF7E44}"/>
              </a:ext>
            </a:extLst>
          </p:cNvPr>
          <p:cNvSpPr txBox="1"/>
          <p:nvPr/>
        </p:nvSpPr>
        <p:spPr>
          <a:xfrm>
            <a:off x="6604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131B22"/>
                </a:solidFill>
                <a:latin typeface="Aptos Display" panose="020B0004020202020204" pitchFamily="34" charset="0"/>
              </a:rPr>
              <a:t>Users lose intent, not just files or tabs</a:t>
            </a:r>
            <a:endParaRPr lang="en-IN" sz="2800" b="1">
              <a:solidFill>
                <a:srgbClr val="131B2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71AEB-7B0D-0E4E-50C1-7999A27E6E1D}"/>
              </a:ext>
            </a:extLst>
          </p:cNvPr>
          <p:cNvSpPr/>
          <p:nvPr/>
        </p:nvSpPr>
        <p:spPr>
          <a:xfrm>
            <a:off x="711200" y="1879600"/>
            <a:ext cx="6959600" cy="5334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9103D-9C87-6AAE-8595-22E1A8FE4D7B}"/>
              </a:ext>
            </a:extLst>
          </p:cNvPr>
          <p:cNvSpPr txBox="1"/>
          <p:nvPr/>
        </p:nvSpPr>
        <p:spPr>
          <a:xfrm>
            <a:off x="990600" y="2336800"/>
            <a:ext cx="6350000" cy="25545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Interruptions, context switching, and fatigue break continuity.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When users return, they cannot quickly reconstruct why they were working.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History tools show residue, not purpose or the next best action.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This system rebuilds likely intent and suggests how to resume work.</a:t>
            </a:r>
            <a:endParaRPr lang="en-IN" sz="2000">
              <a:solidFill>
                <a:srgbClr val="131B22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B2D6E-1636-48FC-51AA-72553CC4E51E}"/>
              </a:ext>
            </a:extLst>
          </p:cNvPr>
          <p:cNvSpPr/>
          <p:nvPr/>
        </p:nvSpPr>
        <p:spPr>
          <a:xfrm>
            <a:off x="8153400" y="1879600"/>
            <a:ext cx="6578600" cy="5334000"/>
          </a:xfrm>
          <a:prstGeom prst="rect">
            <a:avLst/>
          </a:prstGeom>
          <a:solidFill>
            <a:srgbClr val="F54E15">
              <a:alpha val="98000"/>
            </a:srgbClr>
          </a:solidFill>
          <a:ln>
            <a:solidFill>
              <a:srgbClr val="F54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294F8-39F9-D1BA-177F-7C5F87D6688B}"/>
              </a:ext>
            </a:extLst>
          </p:cNvPr>
          <p:cNvSpPr txBox="1"/>
          <p:nvPr/>
        </p:nvSpPr>
        <p:spPr>
          <a:xfrm>
            <a:off x="8534400" y="2286000"/>
            <a:ext cx="228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00" b="1">
                <a:solidFill>
                  <a:srgbClr val="FFE5D8"/>
                </a:solidFill>
                <a:latin typeface="Aptos" panose="020B0004020202020204" pitchFamily="34" charset="0"/>
              </a:rPr>
              <a:t>Human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BC49C-0064-6818-1280-B503ADB727DF}"/>
              </a:ext>
            </a:extLst>
          </p:cNvPr>
          <p:cNvSpPr txBox="1"/>
          <p:nvPr/>
        </p:nvSpPr>
        <p:spPr>
          <a:xfrm>
            <a:off x="8509000" y="2794000"/>
            <a:ext cx="55118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Resume work faster after interruptions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Reduce memory burden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Support ADHD-friendly workflows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Turn messy traces into recovery guidance</a:t>
            </a:r>
            <a:endParaRPr lang="en-IN" sz="2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74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088312-1796-F20A-4722-527A5CCB1F09}"/>
              </a:ext>
            </a:extLst>
          </p:cNvPr>
          <p:cNvSpPr txBox="1"/>
          <p:nvPr/>
        </p:nvSpPr>
        <p:spPr>
          <a:xfrm>
            <a:off x="685800" y="355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54E15"/>
                </a:solidFill>
                <a:latin typeface="Aptos" panose="020B0004020202020204" pitchFamily="34" charset="0"/>
              </a:rPr>
              <a:t>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3400E-3AE7-7C01-1040-7BBC0B0CF15B}"/>
              </a:ext>
            </a:extLst>
          </p:cNvPr>
          <p:cNvSpPr txBox="1"/>
          <p:nvPr/>
        </p:nvSpPr>
        <p:spPr>
          <a:xfrm>
            <a:off x="6604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131B22"/>
                </a:solidFill>
                <a:latin typeface="Aptos Display" panose="020B0004020202020204" pitchFamily="34" charset="0"/>
              </a:rPr>
              <a:t>Operational workflow from live traces to recovery plan</a:t>
            </a:r>
            <a:endParaRPr lang="en-IN" sz="2800" b="1">
              <a:solidFill>
                <a:srgbClr val="131B2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1896FE-9149-90AE-F01A-8AE0962F1976}"/>
              </a:ext>
            </a:extLst>
          </p:cNvPr>
          <p:cNvSpPr/>
          <p:nvPr/>
        </p:nvSpPr>
        <p:spPr>
          <a:xfrm>
            <a:off x="685800" y="2540000"/>
            <a:ext cx="2667000" cy="1219200"/>
          </a:xfrm>
          <a:prstGeom prst="rect">
            <a:avLst/>
          </a:prstGeom>
          <a:solidFill>
            <a:srgbClr val="FFF0EA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68273A-B174-F94C-435A-67FF67D2209B}"/>
              </a:ext>
            </a:extLst>
          </p:cNvPr>
          <p:cNvSpPr/>
          <p:nvPr/>
        </p:nvSpPr>
        <p:spPr>
          <a:xfrm>
            <a:off x="3632200" y="2540000"/>
            <a:ext cx="2667000" cy="1219200"/>
          </a:xfrm>
          <a:prstGeom prst="rect">
            <a:avLst/>
          </a:prstGeom>
          <a:solidFill>
            <a:srgbClr val="E1F0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0077D0-4757-305B-80B9-1FDC2F973AA1}"/>
              </a:ext>
            </a:extLst>
          </p:cNvPr>
          <p:cNvSpPr/>
          <p:nvPr/>
        </p:nvSpPr>
        <p:spPr>
          <a:xfrm>
            <a:off x="6578600" y="2540000"/>
            <a:ext cx="2667000" cy="1219200"/>
          </a:xfrm>
          <a:prstGeom prst="rect">
            <a:avLst/>
          </a:prstGeom>
          <a:solidFill>
            <a:srgbClr val="F6FBEA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7EC42-1AE5-502E-3E25-015577D090E5}"/>
              </a:ext>
            </a:extLst>
          </p:cNvPr>
          <p:cNvSpPr/>
          <p:nvPr/>
        </p:nvSpPr>
        <p:spPr>
          <a:xfrm>
            <a:off x="9525000" y="2540000"/>
            <a:ext cx="2667000" cy="1219200"/>
          </a:xfrm>
          <a:prstGeom prst="rect">
            <a:avLst/>
          </a:prstGeom>
          <a:solidFill>
            <a:srgbClr val="FFEEF6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8B3B3E-0EC1-F579-D84E-20ECC3FA78F1}"/>
              </a:ext>
            </a:extLst>
          </p:cNvPr>
          <p:cNvSpPr/>
          <p:nvPr/>
        </p:nvSpPr>
        <p:spPr>
          <a:xfrm>
            <a:off x="12471400" y="2540000"/>
            <a:ext cx="2260600" cy="1219200"/>
          </a:xfrm>
          <a:prstGeom prst="rect">
            <a:avLst/>
          </a:prstGeom>
          <a:solidFill>
            <a:srgbClr val="E8F9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B3D31-49F2-F3AB-EA78-3DE256C4F6E3}"/>
              </a:ext>
            </a:extLst>
          </p:cNvPr>
          <p:cNvSpPr txBox="1"/>
          <p:nvPr/>
        </p:nvSpPr>
        <p:spPr>
          <a:xfrm>
            <a:off x="914400" y="2794000"/>
            <a:ext cx="215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700" b="1">
                <a:solidFill>
                  <a:srgbClr val="131B22"/>
                </a:solidFill>
                <a:latin typeface="Aptos" panose="020B0004020202020204" pitchFamily="34" charset="0"/>
              </a:rPr>
              <a:t>Collectors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49141-98F6-C941-850B-A0DC515E459A}"/>
              </a:ext>
            </a:extLst>
          </p:cNvPr>
          <p:cNvSpPr txBox="1"/>
          <p:nvPr/>
        </p:nvSpPr>
        <p:spPr>
          <a:xfrm>
            <a:off x="3860800" y="2794000"/>
            <a:ext cx="215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700" b="1">
                <a:solidFill>
                  <a:srgbClr val="131B22"/>
                </a:solidFill>
                <a:latin typeface="Aptos" panose="020B0004020202020204" pitchFamily="34" charset="0"/>
              </a:rPr>
              <a:t>n8n workflows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59582-3170-7264-A7A9-C52F0CF9A3F1}"/>
              </a:ext>
            </a:extLst>
          </p:cNvPr>
          <p:cNvSpPr txBox="1"/>
          <p:nvPr/>
        </p:nvSpPr>
        <p:spPr>
          <a:xfrm>
            <a:off x="6807200" y="2794000"/>
            <a:ext cx="215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700" b="1">
                <a:solidFill>
                  <a:srgbClr val="131B22"/>
                </a:solidFill>
                <a:latin typeface="Aptos" panose="020B0004020202020204" pitchFamily="34" charset="0"/>
              </a:rPr>
              <a:t>Backend +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C9867-623B-5853-2FC1-0C03F71BB5B6}"/>
              </a:ext>
            </a:extLst>
          </p:cNvPr>
          <p:cNvSpPr txBox="1"/>
          <p:nvPr/>
        </p:nvSpPr>
        <p:spPr>
          <a:xfrm>
            <a:off x="9753600" y="2794000"/>
            <a:ext cx="2159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700" b="1">
                <a:solidFill>
                  <a:srgbClr val="131B22"/>
                </a:solidFill>
                <a:latin typeface="Aptos" panose="020B0004020202020204" pitchFamily="34" charset="0"/>
              </a:rPr>
              <a:t>Dashboard + analytics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591E63-8DC2-75EC-DB18-BDDE2EC92421}"/>
              </a:ext>
            </a:extLst>
          </p:cNvPr>
          <p:cNvSpPr txBox="1"/>
          <p:nvPr/>
        </p:nvSpPr>
        <p:spPr>
          <a:xfrm>
            <a:off x="12700000" y="2794000"/>
            <a:ext cx="1778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700" b="1">
                <a:solidFill>
                  <a:srgbClr val="131B22"/>
                </a:solidFill>
                <a:latin typeface="Aptos" panose="020B0004020202020204" pitchFamily="34" charset="0"/>
              </a:rPr>
              <a:t>Notifications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73B4D6F-D772-839F-EBC0-4D3D38D789D9}"/>
              </a:ext>
            </a:extLst>
          </p:cNvPr>
          <p:cNvSpPr/>
          <p:nvPr/>
        </p:nvSpPr>
        <p:spPr>
          <a:xfrm>
            <a:off x="3175000" y="2997200"/>
            <a:ext cx="355600" cy="254000"/>
          </a:xfrm>
          <a:prstGeom prst="rightArrow">
            <a:avLst/>
          </a:prstGeom>
          <a:solidFill>
            <a:srgbClr val="F54E1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002EF6A-1311-924C-DE2C-BDD7B71B864E}"/>
              </a:ext>
            </a:extLst>
          </p:cNvPr>
          <p:cNvSpPr/>
          <p:nvPr/>
        </p:nvSpPr>
        <p:spPr>
          <a:xfrm>
            <a:off x="6121400" y="2997200"/>
            <a:ext cx="355600" cy="254000"/>
          </a:xfrm>
          <a:prstGeom prst="rightArrow">
            <a:avLst/>
          </a:prstGeom>
          <a:solidFill>
            <a:srgbClr val="F54E1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5B4862D-A9B1-0929-50F3-203CC59484C6}"/>
              </a:ext>
            </a:extLst>
          </p:cNvPr>
          <p:cNvSpPr/>
          <p:nvPr/>
        </p:nvSpPr>
        <p:spPr>
          <a:xfrm>
            <a:off x="9067800" y="2997200"/>
            <a:ext cx="355600" cy="254000"/>
          </a:xfrm>
          <a:prstGeom prst="rightArrow">
            <a:avLst/>
          </a:prstGeom>
          <a:solidFill>
            <a:srgbClr val="F54E1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4B750EB-065F-0FF1-973C-21038474A459}"/>
              </a:ext>
            </a:extLst>
          </p:cNvPr>
          <p:cNvSpPr/>
          <p:nvPr/>
        </p:nvSpPr>
        <p:spPr>
          <a:xfrm>
            <a:off x="12014200" y="2997200"/>
            <a:ext cx="355600" cy="254000"/>
          </a:xfrm>
          <a:prstGeom prst="rightArrow">
            <a:avLst/>
          </a:prstGeom>
          <a:solidFill>
            <a:srgbClr val="F54E1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E5ACFE-9473-3ABD-FC21-5E1880D50041}"/>
              </a:ext>
            </a:extLst>
          </p:cNvPr>
          <p:cNvSpPr txBox="1"/>
          <p:nvPr/>
        </p:nvSpPr>
        <p:spPr>
          <a:xfrm>
            <a:off x="736600" y="4572000"/>
            <a:ext cx="1397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>
                <a:solidFill>
                  <a:srgbClr val="4D5965"/>
                </a:solidFill>
                <a:latin typeface="Aptos" panose="020B0004020202020204" pitchFamily="34" charset="0"/>
              </a:rPr>
              <a:t>Recent improvements: trainable artifact flow, auth-aware workspaces, benchmark runs, temporal history, exportable reports, and deck automation.</a:t>
            </a:r>
            <a:endParaRPr lang="en-IN" sz="1800">
              <a:solidFill>
                <a:srgbClr val="4D596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7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6528FD-1446-FB24-1E2E-6BEAD07A3A1A}"/>
              </a:ext>
            </a:extLst>
          </p:cNvPr>
          <p:cNvSpPr txBox="1"/>
          <p:nvPr/>
        </p:nvSpPr>
        <p:spPr>
          <a:xfrm>
            <a:off x="685800" y="355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54E15"/>
                </a:solidFill>
                <a:latin typeface="Aptos" panose="020B0004020202020204" pitchFamily="34" charset="0"/>
              </a:rPr>
              <a:t>Live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AC16B-13AF-02AB-4761-EFC815C07408}"/>
              </a:ext>
            </a:extLst>
          </p:cNvPr>
          <p:cNvSpPr txBox="1"/>
          <p:nvPr/>
        </p:nvSpPr>
        <p:spPr>
          <a:xfrm>
            <a:off x="6604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131B22"/>
                </a:solidFill>
                <a:latin typeface="Aptos Display" panose="020B0004020202020204" pitchFamily="34" charset="0"/>
              </a:rPr>
              <a:t>Current project state and model improvements</a:t>
            </a:r>
            <a:endParaRPr lang="en-IN" sz="2800" b="1">
              <a:solidFill>
                <a:srgbClr val="131B2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8F1AD-8039-CE1E-7064-1360ADA220D1}"/>
              </a:ext>
            </a:extLst>
          </p:cNvPr>
          <p:cNvSpPr/>
          <p:nvPr/>
        </p:nvSpPr>
        <p:spPr>
          <a:xfrm>
            <a:off x="711200" y="1930400"/>
            <a:ext cx="2311400" cy="1168400"/>
          </a:xfrm>
          <a:prstGeom prst="rect">
            <a:avLst/>
          </a:prstGeom>
          <a:solidFill>
            <a:srgbClr val="F3F9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25A146-0BE7-D3B1-F5CF-9E58E3FD37FF}"/>
              </a:ext>
            </a:extLst>
          </p:cNvPr>
          <p:cNvSpPr txBox="1"/>
          <p:nvPr/>
        </p:nvSpPr>
        <p:spPr>
          <a:xfrm>
            <a:off x="939800" y="2133600"/>
            <a:ext cx="1879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4D5965"/>
                </a:solidFill>
                <a:latin typeface="Aptos" panose="020B0004020202020204" pitchFamily="34" charset="0"/>
              </a:rPr>
              <a:t>Workspaces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22D52-E158-07BF-8DBB-CA1CD9595B6C}"/>
              </a:ext>
            </a:extLst>
          </p:cNvPr>
          <p:cNvSpPr txBox="1"/>
          <p:nvPr/>
        </p:nvSpPr>
        <p:spPr>
          <a:xfrm>
            <a:off x="939800" y="2387600"/>
            <a:ext cx="1879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54E15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D7B62-4638-D0AB-E638-540A51BA81CF}"/>
              </a:ext>
            </a:extLst>
          </p:cNvPr>
          <p:cNvSpPr/>
          <p:nvPr/>
        </p:nvSpPr>
        <p:spPr>
          <a:xfrm>
            <a:off x="3200400" y="1930400"/>
            <a:ext cx="2311400" cy="1168400"/>
          </a:xfrm>
          <a:prstGeom prst="rect">
            <a:avLst/>
          </a:prstGeom>
          <a:solidFill>
            <a:srgbClr val="F3F9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8EB719-736B-806D-0424-A6682320BA2E}"/>
              </a:ext>
            </a:extLst>
          </p:cNvPr>
          <p:cNvSpPr txBox="1"/>
          <p:nvPr/>
        </p:nvSpPr>
        <p:spPr>
          <a:xfrm>
            <a:off x="3429000" y="2133600"/>
            <a:ext cx="1879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4D5965"/>
                </a:solidFill>
                <a:latin typeface="Aptos" panose="020B0004020202020204" pitchFamily="34" charset="0"/>
              </a:rPr>
              <a:t>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2EA79-857D-7202-875B-443DD0FA62D5}"/>
              </a:ext>
            </a:extLst>
          </p:cNvPr>
          <p:cNvSpPr txBox="1"/>
          <p:nvPr/>
        </p:nvSpPr>
        <p:spPr>
          <a:xfrm>
            <a:off x="3429000" y="2387600"/>
            <a:ext cx="1879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54E15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29ED0F-1835-EF2C-9B42-FD4005035E10}"/>
              </a:ext>
            </a:extLst>
          </p:cNvPr>
          <p:cNvSpPr/>
          <p:nvPr/>
        </p:nvSpPr>
        <p:spPr>
          <a:xfrm>
            <a:off x="5689600" y="1930400"/>
            <a:ext cx="2311400" cy="1168400"/>
          </a:xfrm>
          <a:prstGeom prst="rect">
            <a:avLst/>
          </a:prstGeom>
          <a:solidFill>
            <a:srgbClr val="F3F9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6C30B3-F53B-1FC8-76B3-E71C974B0ADA}"/>
              </a:ext>
            </a:extLst>
          </p:cNvPr>
          <p:cNvSpPr txBox="1"/>
          <p:nvPr/>
        </p:nvSpPr>
        <p:spPr>
          <a:xfrm>
            <a:off x="5918200" y="2133600"/>
            <a:ext cx="1879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4D5965"/>
                </a:solidFill>
                <a:latin typeface="Aptos" panose="020B0004020202020204" pitchFamily="34" charset="0"/>
              </a:rPr>
              <a:t>Active sessions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19FAF-B5A5-7DAA-9905-2C5E4CB6C162}"/>
              </a:ext>
            </a:extLst>
          </p:cNvPr>
          <p:cNvSpPr txBox="1"/>
          <p:nvPr/>
        </p:nvSpPr>
        <p:spPr>
          <a:xfrm>
            <a:off x="5918200" y="2387600"/>
            <a:ext cx="1879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54E15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B2384E-C163-751D-F832-82580C6BBC07}"/>
              </a:ext>
            </a:extLst>
          </p:cNvPr>
          <p:cNvSpPr/>
          <p:nvPr/>
        </p:nvSpPr>
        <p:spPr>
          <a:xfrm>
            <a:off x="8178800" y="1930400"/>
            <a:ext cx="2311400" cy="1168400"/>
          </a:xfrm>
          <a:prstGeom prst="rect">
            <a:avLst/>
          </a:prstGeom>
          <a:solidFill>
            <a:srgbClr val="F3F9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B51E5-123E-5B46-FB51-601D39ED8D92}"/>
              </a:ext>
            </a:extLst>
          </p:cNvPr>
          <p:cNvSpPr txBox="1"/>
          <p:nvPr/>
        </p:nvSpPr>
        <p:spPr>
          <a:xfrm>
            <a:off x="8407400" y="2133600"/>
            <a:ext cx="1879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4D5965"/>
                </a:solidFill>
                <a:latin typeface="Aptos" panose="020B0004020202020204" pitchFamily="34" charset="0"/>
              </a:rPr>
              <a:t>Pinned sessions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ECA80-E39D-F09C-F4BA-B09A91F3225D}"/>
              </a:ext>
            </a:extLst>
          </p:cNvPr>
          <p:cNvSpPr txBox="1"/>
          <p:nvPr/>
        </p:nvSpPr>
        <p:spPr>
          <a:xfrm>
            <a:off x="8407400" y="2387600"/>
            <a:ext cx="1879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54E15"/>
                </a:solidFill>
                <a:latin typeface="Aptos Display" panose="020B0004020202020204" pitchFamily="34" charset="0"/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7A614C-522C-DEFA-56F7-4B3F8EDD8FCB}"/>
              </a:ext>
            </a:extLst>
          </p:cNvPr>
          <p:cNvSpPr/>
          <p:nvPr/>
        </p:nvSpPr>
        <p:spPr>
          <a:xfrm>
            <a:off x="10668000" y="1930400"/>
            <a:ext cx="2311400" cy="1168400"/>
          </a:xfrm>
          <a:prstGeom prst="rect">
            <a:avLst/>
          </a:prstGeom>
          <a:solidFill>
            <a:srgbClr val="F3F9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818AD5-3665-FE24-DFBC-720F3FF718BE}"/>
              </a:ext>
            </a:extLst>
          </p:cNvPr>
          <p:cNvSpPr txBox="1"/>
          <p:nvPr/>
        </p:nvSpPr>
        <p:spPr>
          <a:xfrm>
            <a:off x="10896600" y="2133600"/>
            <a:ext cx="1879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4D5965"/>
                </a:solidFill>
                <a:latin typeface="Aptos" panose="020B0004020202020204" pitchFamily="34" charset="0"/>
              </a:rPr>
              <a:t>Model version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BC7FA-6B07-9198-CAB6-C381D7963F4A}"/>
              </a:ext>
            </a:extLst>
          </p:cNvPr>
          <p:cNvSpPr txBox="1"/>
          <p:nvPr/>
        </p:nvSpPr>
        <p:spPr>
          <a:xfrm>
            <a:off x="10896600" y="2387600"/>
            <a:ext cx="18796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54E15"/>
                </a:solidFill>
                <a:latin typeface="Aptos Display" panose="020B0004020202020204" pitchFamily="34" charset="0"/>
              </a:rPr>
              <a:t>hybrid-v6-trainable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CEA0B3-7E6A-206D-2D1F-7506BCBC772F}"/>
              </a:ext>
            </a:extLst>
          </p:cNvPr>
          <p:cNvSpPr/>
          <p:nvPr/>
        </p:nvSpPr>
        <p:spPr>
          <a:xfrm>
            <a:off x="13157200" y="1930400"/>
            <a:ext cx="2311400" cy="1168400"/>
          </a:xfrm>
          <a:prstGeom prst="rect">
            <a:avLst/>
          </a:prstGeom>
          <a:solidFill>
            <a:srgbClr val="F3F9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2E382-C95C-872C-9D36-B7374D5C4507}"/>
              </a:ext>
            </a:extLst>
          </p:cNvPr>
          <p:cNvSpPr txBox="1"/>
          <p:nvPr/>
        </p:nvSpPr>
        <p:spPr>
          <a:xfrm>
            <a:off x="13385800" y="2133600"/>
            <a:ext cx="1879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4D5965"/>
                </a:solidFill>
                <a:latin typeface="Aptos" panose="020B0004020202020204" pitchFamily="34" charset="0"/>
              </a:rPr>
              <a:t>Labeled sessions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EF132E-E1E8-4478-D4E8-89C69FCE45D7}"/>
              </a:ext>
            </a:extLst>
          </p:cNvPr>
          <p:cNvSpPr txBox="1"/>
          <p:nvPr/>
        </p:nvSpPr>
        <p:spPr>
          <a:xfrm>
            <a:off x="13385800" y="2387600"/>
            <a:ext cx="1879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54E15"/>
                </a:solidFill>
                <a:latin typeface="Aptos Display" panose="020B0004020202020204" pitchFamily="34" charset="0"/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CD8C8E-3480-EB0B-47EF-5B1EE644682C}"/>
              </a:ext>
            </a:extLst>
          </p:cNvPr>
          <p:cNvSpPr/>
          <p:nvPr/>
        </p:nvSpPr>
        <p:spPr>
          <a:xfrm>
            <a:off x="711200" y="3632200"/>
            <a:ext cx="6858000" cy="3556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194166-7B2D-E437-A676-23A65B44CDB8}"/>
              </a:ext>
            </a:extLst>
          </p:cNvPr>
          <p:cNvSpPr txBox="1"/>
          <p:nvPr/>
        </p:nvSpPr>
        <p:spPr>
          <a:xfrm>
            <a:off x="965200" y="4064000"/>
            <a:ext cx="6350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Hybrid scoring now combines rules, prototype similarity, semantic similarity, and a persisted trainable artifact.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Temporal continuity from recent capture history is folded into intent ranking.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Confidence is calibrated and weak sessions are flagged as uncertain instead of overclaiming.</a:t>
            </a:r>
            <a:endParaRPr lang="en-IN" sz="2000">
              <a:solidFill>
                <a:srgbClr val="131B22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6C93A7-5E8D-7903-6BE0-1ABCA32DBE83}"/>
              </a:ext>
            </a:extLst>
          </p:cNvPr>
          <p:cNvSpPr/>
          <p:nvPr/>
        </p:nvSpPr>
        <p:spPr>
          <a:xfrm>
            <a:off x="7950200" y="3632200"/>
            <a:ext cx="6781800" cy="3556000"/>
          </a:xfrm>
          <a:prstGeom prst="rect">
            <a:avLst/>
          </a:prstGeom>
          <a:solidFill>
            <a:srgbClr val="F54E15">
              <a:alpha val="98000"/>
            </a:srgbClr>
          </a:solidFill>
          <a:ln>
            <a:solidFill>
              <a:srgbClr val="F54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5B5BCC-7B58-E037-208F-2C1462D0E1BD}"/>
              </a:ext>
            </a:extLst>
          </p:cNvPr>
          <p:cNvSpPr txBox="1"/>
          <p:nvPr/>
        </p:nvSpPr>
        <p:spPr>
          <a:xfrm>
            <a:off x="8305800" y="4038600"/>
            <a:ext cx="228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FE5D8"/>
                </a:solidFill>
                <a:latin typeface="Aptos" panose="020B0004020202020204" pitchFamily="34" charset="0"/>
              </a:rPr>
              <a:t>Latest benchmark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43C8A0-A2C2-3498-8716-1EE362C8E73D}"/>
              </a:ext>
            </a:extLst>
          </p:cNvPr>
          <p:cNvSpPr txBox="1"/>
          <p:nvPr/>
        </p:nvSpPr>
        <p:spPr>
          <a:xfrm>
            <a:off x="8305800" y="4470400"/>
            <a:ext cx="57658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Strategy: hybrid-v4-semantic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Top-1 accuracy: 100%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Top-3 accuracy: 100%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Average confidence: 83%</a:t>
            </a:r>
            <a:endParaRPr lang="en-IN" sz="2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2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B29B0-55C2-7D93-C50E-3158103E2AD8}"/>
              </a:ext>
            </a:extLst>
          </p:cNvPr>
          <p:cNvSpPr txBox="1"/>
          <p:nvPr/>
        </p:nvSpPr>
        <p:spPr>
          <a:xfrm>
            <a:off x="685800" y="355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54E15"/>
                </a:solidFill>
                <a:latin typeface="Aptos" panose="020B0004020202020204" pitchFamily="34" charset="0"/>
              </a:rPr>
              <a:t>Featured Sessions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C4B53-56E6-B7B8-9E1C-0CC8A4390A47}"/>
              </a:ext>
            </a:extLst>
          </p:cNvPr>
          <p:cNvSpPr txBox="1"/>
          <p:nvPr/>
        </p:nvSpPr>
        <p:spPr>
          <a:xfrm>
            <a:off x="6604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131B22"/>
                </a:solidFill>
                <a:latin typeface="Aptos Display" panose="020B0004020202020204" pitchFamily="34" charset="0"/>
              </a:rPr>
              <a:t>Curated examples from the live system</a:t>
            </a:r>
            <a:endParaRPr lang="en-IN" sz="2800" b="1">
              <a:solidFill>
                <a:srgbClr val="131B2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D4519-7667-D289-DEB6-337352073558}"/>
              </a:ext>
            </a:extLst>
          </p:cNvPr>
          <p:cNvSpPr/>
          <p:nvPr/>
        </p:nvSpPr>
        <p:spPr>
          <a:xfrm>
            <a:off x="711200" y="1981200"/>
            <a:ext cx="6604000" cy="16256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3C31D-3C60-2B83-A100-2E95FE29A0EE}"/>
              </a:ext>
            </a:extLst>
          </p:cNvPr>
          <p:cNvSpPr txBox="1"/>
          <p:nvPr/>
        </p:nvSpPr>
        <p:spPr>
          <a:xfrm>
            <a:off x="914400" y="2159000"/>
            <a:ext cx="6197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131B22"/>
                </a:solidFill>
                <a:latin typeface="Aptos" panose="020B0004020202020204" pitchFamily="34" charset="0"/>
              </a:rPr>
              <a:t>Workspace capture for Hackathon PPTs</a:t>
            </a:r>
            <a:endParaRPr lang="en-IN" sz="1600" b="1">
              <a:solidFill>
                <a:srgbClr val="131B22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D6ED1-E625-2F14-3497-E7F5D7ED9F17}"/>
              </a:ext>
            </a:extLst>
          </p:cNvPr>
          <p:cNvSpPr txBox="1"/>
          <p:nvPr/>
        </p:nvSpPr>
        <p:spPr>
          <a:xfrm>
            <a:off x="914400" y="2463800"/>
            <a:ext cx="6197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4D5965"/>
                </a:solidFill>
                <a:latin typeface="Aptos" panose="020B0004020202020204" pitchFamily="34" charset="0"/>
              </a:rPr>
              <a:t>windows-workspace-collector · Client pitch and pricing preparation</a:t>
            </a:r>
            <a:endParaRPr lang="en-IN" sz="1200">
              <a:solidFill>
                <a:srgbClr val="4D596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04811-D463-4DDD-452F-A614BBCC36CD}"/>
              </a:ext>
            </a:extLst>
          </p:cNvPr>
          <p:cNvSpPr txBox="1"/>
          <p:nvPr/>
        </p:nvSpPr>
        <p:spPr>
          <a:xfrm>
            <a:off x="939800" y="2743200"/>
            <a:ext cx="61468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The strongest signal cluster matches client pitch and pricing preparation.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Recovery focus points to pricing deltas, deck completion, and commercial framing.</a:t>
            </a:r>
            <a:endParaRPr lang="en-IN" sz="2000">
              <a:solidFill>
                <a:srgbClr val="131B22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6F44CC-57D1-2F41-6610-86E93A79878B}"/>
              </a:ext>
            </a:extLst>
          </p:cNvPr>
          <p:cNvSpPr/>
          <p:nvPr/>
        </p:nvSpPr>
        <p:spPr>
          <a:xfrm>
            <a:off x="7772400" y="1981200"/>
            <a:ext cx="6604000" cy="16256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ACE9BD-770E-BC11-C260-58FD94427AE7}"/>
              </a:ext>
            </a:extLst>
          </p:cNvPr>
          <p:cNvSpPr txBox="1"/>
          <p:nvPr/>
        </p:nvSpPr>
        <p:spPr>
          <a:xfrm>
            <a:off x="7975600" y="2159000"/>
            <a:ext cx="6197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131B22"/>
                </a:solidFill>
                <a:latin typeface="Aptos" panose="020B0004020202020204" pitchFamily="34" charset="0"/>
              </a:rPr>
              <a:t>white - 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2AC63C-BB43-B834-585D-9ACAE0793D80}"/>
              </a:ext>
            </a:extLst>
          </p:cNvPr>
          <p:cNvSpPr txBox="1"/>
          <p:nvPr/>
        </p:nvSpPr>
        <p:spPr>
          <a:xfrm>
            <a:off x="7975600" y="2463800"/>
            <a:ext cx="6197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>
                <a:solidFill>
                  <a:srgbClr val="4D5965"/>
                </a:solidFill>
                <a:latin typeface="Aptos" panose="020B0004020202020204" pitchFamily="34" charset="0"/>
              </a:rPr>
              <a:t>browser-extension · Job application packaging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D78428-C549-692F-C53C-DE09EEE1FA0D}"/>
              </a:ext>
            </a:extLst>
          </p:cNvPr>
          <p:cNvSpPr txBox="1"/>
          <p:nvPr/>
        </p:nvSpPr>
        <p:spPr>
          <a:xfrm>
            <a:off x="8001000" y="2743200"/>
            <a:ext cx="614680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This session has a light signal footprint, so the prediction is only a leaning. Current best match leans toward job application packaging.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Recovery focus points to resume tailoring, role matching, and submission readiness.</a:t>
            </a:r>
            <a:endParaRPr lang="en-IN" sz="2000">
              <a:solidFill>
                <a:srgbClr val="131B2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2FE4BE-B899-77BA-593D-6117EA5EFE6B}"/>
              </a:ext>
            </a:extLst>
          </p:cNvPr>
          <p:cNvSpPr/>
          <p:nvPr/>
        </p:nvSpPr>
        <p:spPr>
          <a:xfrm>
            <a:off x="711200" y="3987800"/>
            <a:ext cx="6604000" cy="16256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03E97-20F0-269F-9A35-1371AF6CDB39}"/>
              </a:ext>
            </a:extLst>
          </p:cNvPr>
          <p:cNvSpPr txBox="1"/>
          <p:nvPr/>
        </p:nvSpPr>
        <p:spPr>
          <a:xfrm>
            <a:off x="914400" y="4165600"/>
            <a:ext cx="6197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131B22"/>
                </a:solidFill>
                <a:latin typeface="Aptos" panose="020B0004020202020204" pitchFamily="34" charset="0"/>
              </a:rPr>
              <a:t>New tab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4EA5B3-0BFA-97A0-2093-EB890F467146}"/>
              </a:ext>
            </a:extLst>
          </p:cNvPr>
          <p:cNvSpPr txBox="1"/>
          <p:nvPr/>
        </p:nvSpPr>
        <p:spPr>
          <a:xfrm>
            <a:off x="914400" y="4470400"/>
            <a:ext cx="6197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4D5965"/>
                </a:solidFill>
                <a:latin typeface="Aptos" panose="020B0004020202020204" pitchFamily="34" charset="0"/>
              </a:rPr>
              <a:t>browser-extension · Client pitch and pricing preparation</a:t>
            </a:r>
            <a:endParaRPr lang="en-IN" sz="1200">
              <a:solidFill>
                <a:srgbClr val="4D5965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4D167-CC33-838E-B208-7F6611D6DABB}"/>
              </a:ext>
            </a:extLst>
          </p:cNvPr>
          <p:cNvSpPr txBox="1"/>
          <p:nvPr/>
        </p:nvSpPr>
        <p:spPr>
          <a:xfrm>
            <a:off x="939800" y="4749800"/>
            <a:ext cx="614680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This session has a light signal footprint, so the prediction is only a leaning. Current best match leans toward client pitch and pricing preparation.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Recovery focus points to pricing deltas, deck completion, and commercial framing.</a:t>
            </a:r>
            <a:endParaRPr lang="en-IN" sz="2000">
              <a:solidFill>
                <a:srgbClr val="131B2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D8548-BCDB-A6AA-5741-D129F6A7C5C9}"/>
              </a:ext>
            </a:extLst>
          </p:cNvPr>
          <p:cNvSpPr/>
          <p:nvPr/>
        </p:nvSpPr>
        <p:spPr>
          <a:xfrm>
            <a:off x="7772400" y="3987800"/>
            <a:ext cx="6604000" cy="16256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52FE90-B67E-FE92-BD00-5241995102FB}"/>
              </a:ext>
            </a:extLst>
          </p:cNvPr>
          <p:cNvSpPr txBox="1"/>
          <p:nvPr/>
        </p:nvSpPr>
        <p:spPr>
          <a:xfrm>
            <a:off x="7975600" y="4165600"/>
            <a:ext cx="6197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131B22"/>
                </a:solidFill>
                <a:latin typeface="Aptos" panose="020B0004020202020204" pitchFamily="34" charset="0"/>
              </a:rPr>
              <a:t>No session available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45ACDD-27CD-FD47-A775-1AC89D9550D7}"/>
              </a:ext>
            </a:extLst>
          </p:cNvPr>
          <p:cNvSpPr txBox="1"/>
          <p:nvPr/>
        </p:nvSpPr>
        <p:spPr>
          <a:xfrm>
            <a:off x="7975600" y="4470400"/>
            <a:ext cx="6197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>
                <a:solidFill>
                  <a:srgbClr val="4D5965"/>
                </a:solidFill>
                <a:latin typeface="Aptos" panose="020B0004020202020204" pitchFamily="34" charset="0"/>
              </a:rPr>
              <a:t>n/a · No prediction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749997-C38C-169E-245F-1E394B013F41}"/>
              </a:ext>
            </a:extLst>
          </p:cNvPr>
          <p:cNvSpPr txBox="1"/>
          <p:nvPr/>
        </p:nvSpPr>
        <p:spPr>
          <a:xfrm>
            <a:off x="8001000" y="4749800"/>
            <a:ext cx="6146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Capture more sessions to populate this slot.</a:t>
            </a:r>
            <a:endParaRPr lang="en-IN" sz="2000">
              <a:solidFill>
                <a:srgbClr val="131B2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328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AB5930-112E-C4A7-AAC3-F833A0ABEB7D}"/>
              </a:ext>
            </a:extLst>
          </p:cNvPr>
          <p:cNvSpPr txBox="1"/>
          <p:nvPr/>
        </p:nvSpPr>
        <p:spPr>
          <a:xfrm>
            <a:off x="685800" y="355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54E15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59096-086A-25BE-20AD-F1268EF3EC9D}"/>
              </a:ext>
            </a:extLst>
          </p:cNvPr>
          <p:cNvSpPr txBox="1"/>
          <p:nvPr/>
        </p:nvSpPr>
        <p:spPr>
          <a:xfrm>
            <a:off x="6604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131B22"/>
                </a:solidFill>
                <a:latin typeface="Aptos Display" panose="020B0004020202020204" pitchFamily="34" charset="0"/>
              </a:rPr>
              <a:t>Notification rules, ownership, and delivery visibility</a:t>
            </a:r>
            <a:endParaRPr lang="en-IN" sz="2800" b="1">
              <a:solidFill>
                <a:srgbClr val="131B2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6F780-986C-DC50-1DAA-CDDEA17EEC0F}"/>
              </a:ext>
            </a:extLst>
          </p:cNvPr>
          <p:cNvSpPr/>
          <p:nvPr/>
        </p:nvSpPr>
        <p:spPr>
          <a:xfrm>
            <a:off x="711200" y="1930400"/>
            <a:ext cx="5461000" cy="4699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00933-EB4F-4392-9907-CD88648763F2}"/>
              </a:ext>
            </a:extLst>
          </p:cNvPr>
          <p:cNvSpPr txBox="1"/>
          <p:nvPr/>
        </p:nvSpPr>
        <p:spPr>
          <a:xfrm>
            <a:off x="990600" y="2387600"/>
            <a:ext cx="4978400" cy="25545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131B22"/>
                </a:solidFill>
                <a:latin typeface="Aptos" panose="020B0004020202020204" pitchFamily="34" charset="0"/>
              </a:rPr>
              <a:t>Workspace-specific quiet hours and minimum idle thresholds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131B22"/>
                </a:solidFill>
                <a:latin typeface="Aptos" panose="020B0004020202020204" pitchFamily="34" charset="0"/>
              </a:rPr>
              <a:t>Intent-specific alert filters using clickable UI chips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131B22"/>
                </a:solidFill>
                <a:latin typeface="Aptos" panose="020B0004020202020204" pitchFamily="34" charset="0"/>
              </a:rPr>
              <a:t>Per-user workspace ownership with token-based login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131B22"/>
                </a:solidFill>
                <a:latin typeface="Aptos" panose="020B0004020202020204" pitchFamily="34" charset="0"/>
              </a:rPr>
              <a:t>One-click bootstrap and n8n workflow sync scripts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4B256A-7F19-491B-987B-F28799910C69}"/>
              </a:ext>
            </a:extLst>
          </p:cNvPr>
          <p:cNvSpPr/>
          <p:nvPr/>
        </p:nvSpPr>
        <p:spPr>
          <a:xfrm>
            <a:off x="6604000" y="1930400"/>
            <a:ext cx="8153400" cy="4699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138B17-8B48-5944-96C2-7B10EC114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031947"/>
              </p:ext>
            </p:extLst>
          </p:nvPr>
        </p:nvGraphicFramePr>
        <p:xfrm>
          <a:off x="6858000" y="2362200"/>
          <a:ext cx="74168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2186208748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618434929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898683331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70389899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IN"/>
                        <a:t>Workspace</a:t>
                      </a:r>
                    </a:p>
                  </a:txBody>
                  <a:tcPr>
                    <a:solidFill>
                      <a:srgbClr val="CFD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</a:t>
                      </a:r>
                    </a:p>
                  </a:txBody>
                  <a:tcPr>
                    <a:solidFill>
                      <a:srgbClr val="CFD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Status</a:t>
                      </a:r>
                    </a:p>
                  </a:txBody>
                  <a:tcPr>
                    <a:solidFill>
                      <a:srgbClr val="CFD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Attempts</a:t>
                      </a:r>
                    </a:p>
                  </a:txBody>
                  <a:tcPr>
                    <a:solidFill>
                      <a:srgbClr val="CF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32881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/>
                        <a:t>No logs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8105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0414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8738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4376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3BB758-E3A4-4D27-B73D-0203E6AE7BAF}"/>
              </a:ext>
            </a:extLst>
          </p:cNvPr>
          <p:cNvSpPr txBox="1"/>
          <p:nvPr/>
        </p:nvSpPr>
        <p:spPr>
          <a:xfrm>
            <a:off x="6858000" y="5765800"/>
            <a:ext cx="711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4D5965"/>
                </a:solidFill>
                <a:latin typeface="Aptos" panose="020B0004020202020204" pitchFamily="34" charset="0"/>
              </a:rPr>
              <a:t>Notification delivery logs are now exportable and auditable from the analytics page.</a:t>
            </a:r>
            <a:endParaRPr lang="en-IN" sz="1600">
              <a:solidFill>
                <a:srgbClr val="4D596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43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0DAE7-18F8-E1D7-934D-A60767671A6A}"/>
              </a:ext>
            </a:extLst>
          </p:cNvPr>
          <p:cNvSpPr txBox="1"/>
          <p:nvPr/>
        </p:nvSpPr>
        <p:spPr>
          <a:xfrm>
            <a:off x="685800" y="355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54E15"/>
                </a:solidFill>
                <a:latin typeface="Aptos" panose="020B0004020202020204" pitchFamily="34" charset="0"/>
              </a:rPr>
              <a:t>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D42E1A-1939-2C7B-FF55-98A62082CE78}"/>
              </a:ext>
            </a:extLst>
          </p:cNvPr>
          <p:cNvSpPr txBox="1"/>
          <p:nvPr/>
        </p:nvSpPr>
        <p:spPr>
          <a:xfrm>
            <a:off x="6604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131B22"/>
                </a:solidFill>
                <a:latin typeface="Aptos Display" panose="020B0004020202020204" pitchFamily="34" charset="0"/>
              </a:rPr>
              <a:t>Trainable artifact and exportable analytics</a:t>
            </a:r>
            <a:endParaRPr lang="en-IN" sz="2800" b="1">
              <a:solidFill>
                <a:srgbClr val="131B2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DDD29-E698-9C00-6B21-85591523DF48}"/>
              </a:ext>
            </a:extLst>
          </p:cNvPr>
          <p:cNvSpPr/>
          <p:nvPr/>
        </p:nvSpPr>
        <p:spPr>
          <a:xfrm>
            <a:off x="711200" y="1930400"/>
            <a:ext cx="6985000" cy="4572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9E037-F213-699E-EDDF-3D1A0376BFF8}"/>
              </a:ext>
            </a:extLst>
          </p:cNvPr>
          <p:cNvSpPr txBox="1"/>
          <p:nvPr/>
        </p:nvSpPr>
        <p:spPr>
          <a:xfrm>
            <a:off x="990600" y="2362200"/>
            <a:ext cx="6426200" cy="25545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131B22"/>
                </a:solidFill>
                <a:latin typeface="Aptos" panose="020B0004020202020204" pitchFamily="34" charset="0"/>
              </a:rPr>
              <a:t>Seed dataset expanded and split into train, validation, and test partitions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131B22"/>
                </a:solidFill>
                <a:latin typeface="Aptos" panose="020B0004020202020204" pitchFamily="34" charset="0"/>
              </a:rPr>
              <a:t>Persisted model artifact stored under data/model-artifact.json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131B22"/>
                </a:solidFill>
                <a:latin typeface="Aptos" panose="020B0004020202020204" pitchFamily="34" charset="0"/>
              </a:rPr>
              <a:t>New train-model route and local training script refresh the artifact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131B22"/>
                </a:solidFill>
                <a:latin typeface="Aptos" panose="020B0004020202020204" pitchFamily="34" charset="0"/>
              </a:rPr>
              <a:t>Analytics can export markdown reports and CSV session summaries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CEF98-35A1-0813-F236-B34777B636B2}"/>
              </a:ext>
            </a:extLst>
          </p:cNvPr>
          <p:cNvSpPr/>
          <p:nvPr/>
        </p:nvSpPr>
        <p:spPr>
          <a:xfrm>
            <a:off x="8102600" y="1930400"/>
            <a:ext cx="6629400" cy="4572000"/>
          </a:xfrm>
          <a:prstGeom prst="rect">
            <a:avLst/>
          </a:prstGeom>
          <a:solidFill>
            <a:srgbClr val="F54E15">
              <a:alpha val="98000"/>
            </a:srgbClr>
          </a:solidFill>
          <a:ln>
            <a:solidFill>
              <a:srgbClr val="F54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EA432-BB6B-D52A-4E9A-DCBE80EA8CB2}"/>
              </a:ext>
            </a:extLst>
          </p:cNvPr>
          <p:cNvSpPr txBox="1"/>
          <p:nvPr/>
        </p:nvSpPr>
        <p:spPr>
          <a:xfrm>
            <a:off x="8483600" y="2336800"/>
            <a:ext cx="228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FE5D8"/>
                </a:solidFill>
                <a:latin typeface="Aptos" panose="020B0004020202020204" pitchFamily="34" charset="0"/>
              </a:rPr>
              <a:t>Artifact snapshot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C73E9-114C-A9F8-9A06-BEE5DA665865}"/>
              </a:ext>
            </a:extLst>
          </p:cNvPr>
          <p:cNvSpPr txBox="1"/>
          <p:nvPr/>
        </p:nvSpPr>
        <p:spPr>
          <a:xfrm>
            <a:off x="8483600" y="2794000"/>
            <a:ext cx="5461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Vocabulary size: 583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Train split: 12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Validation split: 6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Test split: 6</a:t>
            </a:r>
            <a:endParaRPr lang="en-IN" sz="2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654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CE2BD7-EA92-4833-C1E6-C26CE5BB3942}"/>
              </a:ext>
            </a:extLst>
          </p:cNvPr>
          <p:cNvSpPr txBox="1"/>
          <p:nvPr/>
        </p:nvSpPr>
        <p:spPr>
          <a:xfrm>
            <a:off x="685800" y="355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54E15"/>
                </a:solidFill>
                <a:latin typeface="Aptos" panose="020B0004020202020204" pitchFamily="34" charset="0"/>
              </a:rPr>
              <a:t>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BB473-35F1-D9A1-7057-BA59FF22E5BA}"/>
              </a:ext>
            </a:extLst>
          </p:cNvPr>
          <p:cNvSpPr txBox="1"/>
          <p:nvPr/>
        </p:nvSpPr>
        <p:spPr>
          <a:xfrm>
            <a:off x="6604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131B22"/>
                </a:solidFill>
                <a:latin typeface="Aptos Display" panose="020B0004020202020204" pitchFamily="34" charset="0"/>
              </a:rPr>
              <a:t>From activity history to intent recovery</a:t>
            </a:r>
            <a:endParaRPr lang="en-IN" sz="2800" b="1">
              <a:solidFill>
                <a:srgbClr val="131B22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11C435-5D9F-7249-97AC-4AC89C8FA14D}"/>
              </a:ext>
            </a:extLst>
          </p:cNvPr>
          <p:cNvSpPr/>
          <p:nvPr/>
        </p:nvSpPr>
        <p:spPr>
          <a:xfrm>
            <a:off x="711200" y="2082800"/>
            <a:ext cx="6629400" cy="4445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solidFill>
              <a:srgbClr val="C9D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711C8-CAE2-AE77-4663-EF8FC5AC3F13}"/>
              </a:ext>
            </a:extLst>
          </p:cNvPr>
          <p:cNvSpPr txBox="1"/>
          <p:nvPr/>
        </p:nvSpPr>
        <p:spPr>
          <a:xfrm>
            <a:off x="990600" y="2514600"/>
            <a:ext cx="6096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Interrupted-work recovery for developers, researchers, and knowledge workers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ADHD-friendly context restoration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Enterprise workflow memory and follow-up automation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131B22"/>
                </a:solidFill>
                <a:latin typeface="Aptos" panose="020B0004020202020204" pitchFamily="34" charset="0"/>
              </a:rPr>
              <a:t>Explainable intent recovery instead of opaque assistant guesses</a:t>
            </a:r>
            <a:endParaRPr lang="en-IN" sz="2000">
              <a:solidFill>
                <a:srgbClr val="131B22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92CB5-83FB-C225-A524-0F73B8554110}"/>
              </a:ext>
            </a:extLst>
          </p:cNvPr>
          <p:cNvSpPr/>
          <p:nvPr/>
        </p:nvSpPr>
        <p:spPr>
          <a:xfrm>
            <a:off x="7874000" y="2082800"/>
            <a:ext cx="6883400" cy="4445000"/>
          </a:xfrm>
          <a:prstGeom prst="rect">
            <a:avLst/>
          </a:prstGeom>
          <a:solidFill>
            <a:srgbClr val="F54E15">
              <a:alpha val="98000"/>
            </a:srgbClr>
          </a:solidFill>
          <a:ln>
            <a:solidFill>
              <a:srgbClr val="F54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F6C84-A1D7-A1D2-EFBA-AD1833B15ED8}"/>
              </a:ext>
            </a:extLst>
          </p:cNvPr>
          <p:cNvSpPr txBox="1"/>
          <p:nvPr/>
        </p:nvSpPr>
        <p:spPr>
          <a:xfrm>
            <a:off x="8280400" y="2514600"/>
            <a:ext cx="279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FE5D8"/>
                </a:solidFill>
                <a:latin typeface="Aptos" panose="020B0004020202020204" pitchFamily="34" charset="0"/>
              </a:rPr>
              <a:t>What is now automated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63DBE-BF4D-BF0A-8560-0C7EA9E0869A}"/>
              </a:ext>
            </a:extLst>
          </p:cNvPr>
          <p:cNvSpPr txBox="1"/>
          <p:nvPr/>
        </p:nvSpPr>
        <p:spPr>
          <a:xfrm>
            <a:off x="8280400" y="2946400"/>
            <a:ext cx="5969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FFFFFF"/>
                </a:solidFill>
                <a:latin typeface="Aptos" panose="020B0004020202020204" pitchFamily="34" charset="0"/>
              </a:rPr>
              <a:t>Model training and artifact refresh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FFFFFF"/>
                </a:solidFill>
                <a:latin typeface="Aptos" panose="020B0004020202020204" pitchFamily="34" charset="0"/>
              </a:rPr>
              <a:t>Analytics markdown and CSV export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FFFFFF"/>
                </a:solidFill>
                <a:latin typeface="Aptos" panose="020B0004020202020204" pitchFamily="34" charset="0"/>
              </a:rPr>
              <a:t>PowerPoint deck generation from live API data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rgbClr val="FFFFFF"/>
                </a:solidFill>
                <a:latin typeface="Aptos" panose="020B0004020202020204" pitchFamily="34" charset="0"/>
              </a:rPr>
              <a:t>n8n workflow sync and local bootstrap scripts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3B816-B32D-DFC4-4003-EAAB6081CCB1}"/>
              </a:ext>
            </a:extLst>
          </p:cNvPr>
          <p:cNvSpPr txBox="1"/>
          <p:nvPr/>
        </p:nvSpPr>
        <p:spPr>
          <a:xfrm>
            <a:off x="736600" y="7188200"/>
            <a:ext cx="1320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31B22"/>
                </a:solidFill>
                <a:latin typeface="Aptos Display" panose="020B0004020202020204" pitchFamily="34" charset="0"/>
              </a:rPr>
              <a:t>Intent Resurrection Engine turns messy digital residue into a structured recovery plan.</a:t>
            </a:r>
            <a:endParaRPr lang="en-IN" sz="2200" b="1">
              <a:solidFill>
                <a:srgbClr val="131B22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7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On-screen Show (16:10)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Srijan Jaiswal</dc:creator>
  <cp:lastModifiedBy>Srijan Jaiswal</cp:lastModifiedBy>
  <cp:revision>1</cp:revision>
  <dcterms:created xsi:type="dcterms:W3CDTF">2026-04-22T02:53:29Z</dcterms:created>
  <dcterms:modified xsi:type="dcterms:W3CDTF">2026-04-22T02:53:29Z</dcterms:modified>
</cp:coreProperties>
</file>